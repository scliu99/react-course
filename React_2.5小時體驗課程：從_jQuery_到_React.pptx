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326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35719" cy="51435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/>
          <p:cNvSpPr/>
          <p:nvPr/>
        </p:nvSpPr>
        <p:spPr>
          <a:xfrm>
            <a:off x="457200" y="1375172"/>
            <a:ext cx="457200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77" b="1" dirty="0">
                <a:solidFill>
                  <a:srgbClr val="484F6F"/>
                </a:solidFill>
              </a:rPr>
              <a:t>從 jQuery 到 React：
</a:t>
            </a:r>
            <a:r>
              <a:rPr lang="en-US" sz="2436" b="1" dirty="0">
                <a:solidFill>
                  <a:srgbClr val="484F6F"/>
                </a:solidFill>
              </a:rPr>
              <a:t>現代前端開發極速入門</a:t>
            </a:r>
            <a:endParaRPr lang="en-US" sz="3077" dirty="0"/>
          </a:p>
        </p:txBody>
      </p:sp>
      <p:sp>
        <p:nvSpPr>
          <p:cNvPr id="7" name="Text 3"/>
          <p:cNvSpPr/>
          <p:nvPr/>
        </p:nvSpPr>
        <p:spPr>
          <a:xfrm>
            <a:off x="457200" y="2482453"/>
            <a:ext cx="4572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D6AE7E"/>
                </a:solidFill>
              </a:rPr>
              <a:t>2.5 小時打造你的第一個 React App</a:t>
            </a:r>
            <a:endParaRPr lang="en-US" sz="1499" dirty="0"/>
          </a:p>
        </p:txBody>
      </p:sp>
      <p:sp>
        <p:nvSpPr>
          <p:cNvPr id="8" name="Text 4"/>
          <p:cNvSpPr/>
          <p:nvPr/>
        </p:nvSpPr>
        <p:spPr>
          <a:xfrm>
            <a:off x="457200" y="3311128"/>
            <a:ext cx="4572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講師：[Your Name]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57200" y="3568303"/>
            <a:ext cx="4572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2026.01.02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7831810" y="4714875"/>
            <a:ext cx="10264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kern="0" spc="1" dirty="0">
                <a:solidFill>
                  <a:srgbClr val="121211"/>
                </a:solidFill>
              </a:rPr>
              <a:t>React Workshop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今日目標：從觀念理解到實戰產出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85750" y="1298711"/>
            <a:ext cx="4171950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285750" y="1298711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457200" y="1470161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理解差異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57200" y="1755911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搞懂 React 在紅什麼？與傳統 jQuery 開發模式有何本質上的不同？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2498861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掌握核心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85750" y="2784611"/>
            <a:ext cx="41719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深入淺出 React 三大核心：Component (元件)、Props (屬性)、State (狀態)。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750" y="3356111"/>
            <a:ext cx="4171950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8"/>
          <p:cNvSpPr/>
          <p:nvPr/>
        </p:nvSpPr>
        <p:spPr>
          <a:xfrm>
            <a:off x="285750" y="3356111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457200" y="3527561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實戰成果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457200" y="3813311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手把手帶領學員完成一個具備新增、顯示功能的 Todo List 待辦清單。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686300" y="1327286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課程內容分配 (2.5 小時)</a:t>
            </a:r>
            <a:endParaRPr lang="en-US" sz="1193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70186"/>
            <a:ext cx="4171950" cy="24288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86300" y="4213361"/>
            <a:ext cx="4171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學習路徑：觀念篇 → 語法篇 → 互動篇 → 實戰篇 → 進階篇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傳統 DOM 操作的困境：為什麼我們需要 React？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85750" y="1105830"/>
            <a:ext cx="5052054" cy="3214688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386725"/>
            <a:ext cx="4823454" cy="26528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4434818"/>
            <a:ext cx="50520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jQuery 的命令式 (Imperative) vs React 的宣告式 (Declarative) 思維對比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5566404" y="912949"/>
            <a:ext cx="3291818" cy="1228725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5566404" y="912949"/>
            <a:ext cx="28575" cy="1228725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5737854" y="1084399"/>
            <a:ext cx="2948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維護難題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737854" y="1370149"/>
            <a:ext cx="294891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當網頁邏輯變複雜時，頻繁的手動 DOM 更新會導致程式碼變成難以維護的</a:t>
            </a:r>
            <a:r>
              <a:rPr lang="en-US" sz="987" b="1" dirty="0">
                <a:solidFill>
                  <a:srgbClr val="484F6F"/>
                </a:solidFill>
              </a:rPr>
              <a:t>「義大利麵程式碼」</a:t>
            </a:r>
            <a:r>
              <a:rPr lang="en-US" sz="1050" dirty="0">
                <a:solidFill>
                  <a:srgbClr val="121211"/>
                </a:solidFill>
              </a:rPr>
              <a:t>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566404" y="2313124"/>
            <a:ext cx="32918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核心痛點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737854" y="2598874"/>
            <a:ext cx="31203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手動操作 DOM 效率低下且易出錯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37854" y="2856049"/>
            <a:ext cx="31203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UI 與資料狀態難以保持同步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737854" y="3113224"/>
            <a:ext cx="31203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缺乏元件化概念，程式碼重複率高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37854" y="3370399"/>
            <a:ext cx="31203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難以進行單元測試與大規模協作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566404" y="3741874"/>
            <a:ext cx="3291818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5566404" y="3741874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4"/>
          <p:cNvSpPr/>
          <p:nvPr/>
        </p:nvSpPr>
        <p:spPr>
          <a:xfrm>
            <a:off x="5737854" y="3913324"/>
            <a:ext cx="2948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解決方案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5737854" y="4199074"/>
            <a:ext cx="29489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React 透過</a:t>
            </a:r>
            <a:r>
              <a:rPr lang="en-US" sz="987" b="1" dirty="0">
                <a:solidFill>
                  <a:srgbClr val="484F6F"/>
                </a:solidFill>
              </a:rPr>
              <a:t>抽象化 DOM 操作</a:t>
            </a:r>
            <a:r>
              <a:rPr lang="en-US" sz="1050" dirty="0">
                <a:solidFill>
                  <a:srgbClr val="121211"/>
                </a:solidFill>
              </a:rPr>
              <a:t>，讓開發者專注於資料邏輯而非操作細節。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思維革命：元件化開發與宣告式 UI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28600" y="1033667"/>
            <a:ext cx="4257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React 元件樹狀結構 (Component Tree)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70159"/>
            <a:ext cx="3929063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4449775"/>
            <a:ext cx="42576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網頁不再是整頁開發，而是由多個獨立元件組裝而成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4657725" y="883509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4657725" y="883509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4772025" y="997809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核心思維轉變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72025" y="1226409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從「如何修改 DOM」轉向「描述 UI 狀態」。React 讓開發者專注於資料邏輯，底層更新交由框架自動處理。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657725" y="1998492"/>
            <a:ext cx="4257675" cy="742950"/>
          </a:xfrm>
          <a:prstGeom prst="rect">
            <a:avLst/>
          </a:prstGeom>
          <a:solidFill>
            <a:srgbClr val="484F6F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8"/>
          <p:cNvSpPr/>
          <p:nvPr/>
        </p:nvSpPr>
        <p:spPr>
          <a:xfrm>
            <a:off x="4657725" y="1998492"/>
            <a:ext cx="28575" cy="742950"/>
          </a:xfrm>
          <a:prstGeom prst="rect">
            <a:avLst/>
          </a:prstGeom>
          <a:solidFill>
            <a:srgbClr val="484F6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112792"/>
            <a:ext cx="16073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61334" y="2084217"/>
            <a:ext cx="18435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元件化 (Component-Based)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743450" y="2312817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將 UI 拆解為獨立、可複用的積木。每個元件管理自己的邏輯與樣式，大幅提升程式碼的可讀性與維護性。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4657725" y="2999175"/>
            <a:ext cx="4257675" cy="742950"/>
          </a:xfrm>
          <a:prstGeom prst="rect">
            <a:avLst/>
          </a:prstGeom>
          <a:solidFill>
            <a:srgbClr val="939CBD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2"/>
          <p:cNvSpPr/>
          <p:nvPr/>
        </p:nvSpPr>
        <p:spPr>
          <a:xfrm>
            <a:off x="4657725" y="2999175"/>
            <a:ext cx="28575" cy="742950"/>
          </a:xfrm>
          <a:prstGeom prst="rect">
            <a:avLst/>
          </a:prstGeom>
          <a:solidFill>
            <a:srgbClr val="939CB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113475"/>
            <a:ext cx="142875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43475" y="3084900"/>
            <a:ext cx="134704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宣告式 (Declarative)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4743450" y="3313500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只需告訴 React「畫面應該長什麼樣子」(State -&gt; UI)，React 會自動計算差異並更新必要的節點。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4657725" y="3999858"/>
            <a:ext cx="4257675" cy="7429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6"/>
          <p:cNvSpPr/>
          <p:nvPr/>
        </p:nvSpPr>
        <p:spPr>
          <a:xfrm>
            <a:off x="4657725" y="3999858"/>
            <a:ext cx="28575" cy="7429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4114158"/>
            <a:ext cx="142875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43475" y="4085583"/>
            <a:ext cx="7143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關注點分離</a:t>
            </a:r>
            <a:endParaRPr lang="en-US" sz="987" dirty="0"/>
          </a:p>
        </p:txBody>
      </p:sp>
      <p:sp>
        <p:nvSpPr>
          <p:cNvPr id="25" name="Text 18"/>
          <p:cNvSpPr/>
          <p:nvPr/>
        </p:nvSpPr>
        <p:spPr>
          <a:xfrm>
            <a:off x="4743450" y="4314183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每個元件都是封裝良好的單元。透過組合多個小元件，可以快速構建出複雜且功能強大的使用者介面。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效能與語法的雙重進化：Virtual DOM 與 ES6+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85750" y="1212986"/>
            <a:ext cx="5052054" cy="3000375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20" y="1327286"/>
            <a:ext cx="4143487" cy="277174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4327661"/>
            <a:ext cx="50520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Virtual DOM 透過 Diffing 演算法計算最小變動，極大化渲染效能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5566404" y="1048680"/>
            <a:ext cx="3291818" cy="1114425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5566404" y="1048680"/>
            <a:ext cx="28575" cy="1114425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5680704" y="1162980"/>
            <a:ext cx="30632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Virtual DOM 效能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680704" y="1448730"/>
            <a:ext cx="306321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React 在記憶體中維護一份虛擬 DOM，僅在資料變動時更新必要的真實 DOM，避免昂貴的全頁重繪。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566404" y="2277405"/>
            <a:ext cx="32918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現代 JS 必備語法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737854" y="2564941"/>
            <a:ext cx="71211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484F6F"/>
                </a:solidFill>
              </a:rPr>
              <a:t>const / let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6449969" y="2564941"/>
            <a:ext cx="157193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：取代 var 的區塊作用域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737854" y="2775682"/>
            <a:ext cx="10980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484F6F"/>
                </a:solidFill>
              </a:rPr>
              <a:t>Arrow Function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6835871" y="2775682"/>
            <a:ext cx="1143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：簡潔的函式定義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37854" y="2986422"/>
            <a:ext cx="100400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484F6F"/>
                </a:solidFill>
              </a:rPr>
              <a:t>Destructuring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6741858" y="2986422"/>
            <a:ext cx="16026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：優雅地提取 Props 資料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737854" y="3197163"/>
            <a:ext cx="11817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484F6F"/>
                </a:solidFill>
              </a:rPr>
              <a:t>Spread Operator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6919587" y="3197163"/>
            <a:ext cx="1285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：保持資料不可變性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566404" y="3520418"/>
            <a:ext cx="3291818" cy="1114425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7"/>
          <p:cNvSpPr/>
          <p:nvPr/>
        </p:nvSpPr>
        <p:spPr>
          <a:xfrm>
            <a:off x="5566404" y="3520418"/>
            <a:ext cx="28575" cy="1114425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/>
          <p:nvPr/>
        </p:nvSpPr>
        <p:spPr>
          <a:xfrm>
            <a:off x="5680704" y="3634718"/>
            <a:ext cx="30632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開發體驗</a:t>
            </a:r>
            <a:endParaRPr lang="en-US" sz="1193" dirty="0"/>
          </a:p>
        </p:txBody>
      </p:sp>
      <p:sp>
        <p:nvSpPr>
          <p:cNvPr id="23" name="Text 19"/>
          <p:cNvSpPr/>
          <p:nvPr/>
        </p:nvSpPr>
        <p:spPr>
          <a:xfrm>
            <a:off x="5680704" y="3920468"/>
            <a:ext cx="306321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搭配現代工具鏈，React 提供極速的</a:t>
            </a:r>
            <a:r>
              <a:rPr lang="en-US" sz="987" b="1" dirty="0">
                <a:solidFill>
                  <a:srgbClr val="484F6F"/>
                </a:solidFill>
              </a:rPr>
              <a:t>熱更新 (HMR)</a:t>
            </a:r>
            <a:r>
              <a:rPr lang="en-US" sz="1050" dirty="0">
                <a:solidFill>
                  <a:srgbClr val="121211"/>
                </a:solidFill>
              </a:rPr>
              <a:t>，讓開發者能即時看到程式碼變動的結果。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JSX 語法：在 JavaScript 中直觀地描述 UI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85750" y="1004032"/>
            <a:ext cx="4171950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2"/>
          <p:cNvSpPr/>
          <p:nvPr/>
        </p:nvSpPr>
        <p:spPr>
          <a:xfrm>
            <a:off x="285750" y="1004032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457200" y="1175482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語法特性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57200" y="1461232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JSX 看起來像 HTML，但本質上是 JavaScript 的語法擴充，擁有強大的邏輯表達能力。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85750" y="2204182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核心優勢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57200" y="2491718"/>
            <a:ext cx="7515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使用大括號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208745" y="2525650"/>
            <a:ext cx="314381" cy="1625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1208745" y="2525650"/>
            <a:ext cx="314381" cy="162520"/>
          </a:xfrm>
          <a:prstGeom prst="rect">
            <a:avLst/>
          </a:prstGeom>
          <a:noFill/>
          <a:ln/>
        </p:spPr>
        <p:txBody>
          <a:bodyPr wrap="none" lIns="34036" tIns="0" rIns="34036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{ }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523126" y="2491718"/>
            <a:ext cx="11801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即可動態嵌入變數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2764966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編譯過程會將 JSX 轉換為標準的 JS 呼叫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3022141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結構嚴謹，每個片段必須擁有單一根節點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3279316"/>
            <a:ext cx="40005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提升開發效率，實現資料與視覺的完美融合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85750" y="3650791"/>
            <a:ext cx="4171950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4"/>
          <p:cNvSpPr/>
          <p:nvPr/>
        </p:nvSpPr>
        <p:spPr>
          <a:xfrm>
            <a:off x="285750" y="3650791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457200" y="3822241"/>
            <a:ext cx="38290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編譯過程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457200" y="4107991"/>
            <a:ext cx="3829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JSX 會被 Babel 等工具編譯成標準的 </a:t>
            </a:r>
            <a:r>
              <a:rPr lang="en-US" sz="987" b="1" dirty="0">
                <a:solidFill>
                  <a:srgbClr val="1E40AF"/>
                </a:solidFill>
              </a:rPr>
              <a:t>React.createElement</a:t>
            </a:r>
            <a:r>
              <a:rPr lang="en-US" sz="1050" dirty="0">
                <a:solidFill>
                  <a:srgbClr val="121211"/>
                </a:solidFill>
              </a:rPr>
              <a:t> 呼叫。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686300" y="1513024"/>
            <a:ext cx="41719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JSX 程式碼範例</a:t>
            </a:r>
            <a:endParaRPr lang="en-US" sz="1193" dirty="0"/>
          </a:p>
        </p:txBody>
      </p:sp>
      <p:sp>
        <p:nvSpPr>
          <p:cNvPr id="21" name="Shape 18"/>
          <p:cNvSpPr/>
          <p:nvPr/>
        </p:nvSpPr>
        <p:spPr>
          <a:xfrm>
            <a:off x="4686300" y="1855924"/>
            <a:ext cx="4171950" cy="2057400"/>
          </a:xfrm>
          <a:prstGeom prst="rect">
            <a:avLst/>
          </a:prstGeom>
          <a:solidFill>
            <a:srgbClr val="2D3748"/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22" name="Text 19"/>
          <p:cNvSpPr/>
          <p:nvPr/>
        </p:nvSpPr>
        <p:spPr>
          <a:xfrm>
            <a:off x="4686300" y="1855924"/>
            <a:ext cx="4171950" cy="2143279"/>
          </a:xfrm>
          <a:prstGeom prst="rect">
            <a:avLst/>
          </a:prstGeom>
          <a:noFill/>
          <a:ln/>
        </p:spPr>
        <p:txBody>
          <a:bodyPr wrap="square" lIns="272161" tIns="272161" rIns="272161" bIns="272161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6AD55"/>
                </a:solidFill>
              </a:rPr>
              <a:t>const</a:t>
            </a:r>
            <a:r>
              <a:rPr lang="en-US" sz="1050" dirty="0">
                <a:solidFill>
                  <a:srgbClr val="E2E8F0"/>
                </a:solidFill>
              </a:rPr>
              <a:t> name = </a:t>
            </a:r>
            <a:r>
              <a:rPr lang="en-US" sz="1050" dirty="0">
                <a:solidFill>
                  <a:srgbClr val="68D391"/>
                </a:solidFill>
              </a:rPr>
              <a:t>"React"</a:t>
            </a:r>
            <a:r>
              <a:rPr lang="en-US" sz="1050" dirty="0">
                <a:solidFill>
                  <a:srgbClr val="E2E8F0"/>
                </a:solidFill>
              </a:rPr>
              <a:t>;
</a:t>
            </a:r>
            <a:r>
              <a:rPr lang="en-US" sz="1050" dirty="0">
                <a:solidFill>
                  <a:srgbClr val="F6AD55"/>
                </a:solidFill>
              </a:rPr>
              <a:t>const</a:t>
            </a:r>
            <a:r>
              <a:rPr lang="en-US" sz="1050" dirty="0">
                <a:solidFill>
                  <a:srgbClr val="E2E8F0"/>
                </a:solidFill>
              </a:rPr>
              <a:t> element = (
</a:t>
            </a:r>
            <a:r>
              <a:rPr lang="en-US" sz="1050" dirty="0">
                <a:solidFill>
                  <a:srgbClr val="FC8181"/>
                </a:solidFill>
              </a:rPr>
              <a:t>&lt;div&gt;</a:t>
            </a:r>
            <a:r>
              <a:rPr lang="en-US" sz="1050" dirty="0">
                <a:solidFill>
                  <a:srgbClr val="E2E8F0"/>
                </a:solidFill>
              </a:rPr>
              <a:t>
    </a:t>
            </a:r>
            <a:r>
              <a:rPr lang="en-US" sz="1050" dirty="0">
                <a:solidFill>
                  <a:srgbClr val="FC8181"/>
                </a:solidFill>
              </a:rPr>
              <a:t>&lt;h1&gt;</a:t>
            </a:r>
            <a:r>
              <a:rPr lang="en-US" sz="1050" dirty="0">
                <a:solidFill>
                  <a:srgbClr val="E2E8F0"/>
                </a:solidFill>
              </a:rPr>
              <a:t>Hello, {name}!</a:t>
            </a:r>
            <a:r>
              <a:rPr lang="en-US" sz="1050" dirty="0">
                <a:solidFill>
                  <a:srgbClr val="FC8181"/>
                </a:solidFill>
              </a:rPr>
              <a:t>&lt;/h1&gt;</a:t>
            </a:r>
            <a:r>
              <a:rPr lang="en-US" sz="1050" dirty="0">
                <a:solidFill>
                  <a:srgbClr val="E2E8F0"/>
                </a:solidFill>
              </a:rPr>
              <a:t>
    </a:t>
            </a:r>
            <a:r>
              <a:rPr lang="en-US" sz="1050" dirty="0">
                <a:solidFill>
                  <a:srgbClr val="FC8181"/>
                </a:solidFill>
              </a:rPr>
              <a:t>&lt;p&gt;</a:t>
            </a:r>
            <a:r>
              <a:rPr lang="en-US" sz="1050" dirty="0">
                <a:solidFill>
                  <a:srgbClr val="E2E8F0"/>
                </a:solidFill>
              </a:rPr>
              <a:t>Welcome to JSX world.</a:t>
            </a:r>
            <a:r>
              <a:rPr lang="en-US" sz="1050" dirty="0">
                <a:solidFill>
                  <a:srgbClr val="FC8181"/>
                </a:solidFill>
              </a:rPr>
              <a:t>&lt;/p&gt;</a:t>
            </a:r>
            <a:r>
              <a:rPr lang="en-US" sz="1050" dirty="0">
                <a:solidFill>
                  <a:srgbClr val="E2E8F0"/>
                </a:solidFill>
              </a:rPr>
              <a:t>
</a:t>
            </a:r>
            <a:r>
              <a:rPr lang="en-US" sz="1050" dirty="0">
                <a:solidFill>
                  <a:srgbClr val="FC8181"/>
                </a:solidFill>
              </a:rPr>
              <a:t>&lt;/div&gt;</a:t>
            </a:r>
            <a:r>
              <a:rPr lang="en-US" sz="1050" dirty="0">
                <a:solidFill>
                  <a:srgbClr val="E2E8F0"/>
                </a:solidFill>
              </a:rPr>
              <a:t>
 );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86300" y="4027624"/>
            <a:ext cx="41719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JSX 讓 UI 結構與資料邏輯緊密結合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Component 與 Props：打造可複用的 UI 積木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28600" y="1033667"/>
            <a:ext cx="4257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元件化開發對專案的價值貢獻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70159"/>
            <a:ext cx="4257675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4449775"/>
            <a:ext cx="42576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核心理念：將複雜 UI 拆解為獨立、可測試的小型單元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4657725" y="804230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4657725" y="804230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4772025" y="918530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元件溝通的橋樑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72025" y="1147130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元件本質上是回傳 JSX 的函式，而 Props 則是父元件傳遞資料給子元件的唯一管道，確保了 UI 的一致性與可預測性。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743450" y="1954234"/>
            <a:ext cx="11906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單向流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743450" y="2154259"/>
            <a:ext cx="1190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One-way</a:t>
            </a:r>
            <a:endParaRPr lang="en-US" sz="1193" dirty="0"/>
          </a:p>
        </p:txBody>
      </p:sp>
      <p:sp>
        <p:nvSpPr>
          <p:cNvPr id="13" name="Text 9"/>
          <p:cNvSpPr/>
          <p:nvPr/>
        </p:nvSpPr>
        <p:spPr>
          <a:xfrm>
            <a:off x="4743450" y="2382859"/>
            <a:ext cx="11906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資料由上而下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6191231" y="1954234"/>
            <a:ext cx="1190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唯讀性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6191231" y="2154259"/>
            <a:ext cx="11906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Read-only</a:t>
            </a:r>
            <a:endParaRPr lang="en-US" sz="1193" dirty="0"/>
          </a:p>
        </p:txBody>
      </p:sp>
      <p:sp>
        <p:nvSpPr>
          <p:cNvPr id="16" name="Text 12"/>
          <p:cNvSpPr/>
          <p:nvPr/>
        </p:nvSpPr>
        <p:spPr>
          <a:xfrm>
            <a:off x="6191231" y="2382859"/>
            <a:ext cx="11906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子元件不可修改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7639041" y="1954234"/>
            <a:ext cx="1190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父傳子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7639041" y="2154259"/>
            <a:ext cx="119063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P to C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7639041" y="2382859"/>
            <a:ext cx="11906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屬性傳遞機制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4657725" y="2839920"/>
            <a:ext cx="4257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Props 核心特性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4829175" y="3081021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屬性傳遞：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5472140" y="3081021"/>
            <a:ext cx="31179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如同 HTML 屬性，可傳遞字串、數字、物件甚至函式。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4829175" y="3320337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不可變性：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5472140" y="3320337"/>
            <a:ext cx="282895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確保資料來源單一，降低除錯難度與系統複雜度。</a:t>
            </a:r>
            <a:endParaRPr lang="en-US" sz="942" dirty="0"/>
          </a:p>
        </p:txBody>
      </p:sp>
      <p:sp>
        <p:nvSpPr>
          <p:cNvPr id="25" name="Text 21"/>
          <p:cNvSpPr/>
          <p:nvPr/>
        </p:nvSpPr>
        <p:spPr>
          <a:xfrm>
            <a:off x="4829175" y="3559652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動態渲染：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5472140" y="3559652"/>
            <a:ext cx="32425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當父元件傳入的 Props 改變時，子元件會自動重新渲染。</a:t>
            </a:r>
            <a:endParaRPr lang="en-US" sz="942" dirty="0"/>
          </a:p>
        </p:txBody>
      </p:sp>
      <p:sp>
        <p:nvSpPr>
          <p:cNvPr id="27" name="Shape 23"/>
          <p:cNvSpPr/>
          <p:nvPr/>
        </p:nvSpPr>
        <p:spPr>
          <a:xfrm>
            <a:off x="4657725" y="3964921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4"/>
          <p:cNvSpPr/>
          <p:nvPr/>
        </p:nvSpPr>
        <p:spPr>
          <a:xfrm>
            <a:off x="4657725" y="3964921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/>
          <p:nvPr/>
        </p:nvSpPr>
        <p:spPr>
          <a:xfrm>
            <a:off x="4772025" y="4079221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戰略意義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4772025" y="4307821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透過 Props 實現的單向資料流，是 React 能夠在大型專案中保持高效協作與穩定性的關鍵基石。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State 狀態管理：驅動網頁互動的核心動力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85750" y="1241561"/>
            <a:ext cx="505205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React 渲染循環 (The Render Cycle)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1584461"/>
            <a:ext cx="5050631" cy="2714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750" y="4413386"/>
            <a:ext cx="50520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當 State 改變時，React 會自動計算差異並重新渲染 UI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5566404" y="846869"/>
            <a:ext cx="3291818" cy="1228725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5566404" y="846869"/>
            <a:ext cx="28575" cy="1228725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5737854" y="1018319"/>
            <a:ext cx="2948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什麼是 State？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5737854" y="1304069"/>
            <a:ext cx="294891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State 是元件內部的</a:t>
            </a:r>
            <a:r>
              <a:rPr lang="en-US" sz="987" b="1" dirty="0">
                <a:solidFill>
                  <a:srgbClr val="484F6F"/>
                </a:solidFill>
              </a:rPr>
              <a:t>私有資料 (Memory)</a:t>
            </a:r>
            <a:r>
              <a:rPr lang="en-US" sz="1050" dirty="0">
                <a:solidFill>
                  <a:srgbClr val="121211"/>
                </a:solidFill>
              </a:rPr>
              <a:t>。一般變數改變不會觸發畫面更新，但 State 改變會觸發 </a:t>
            </a:r>
            <a:r>
              <a:rPr lang="en-US" sz="987" b="1" dirty="0">
                <a:solidFill>
                  <a:srgbClr val="484F6F"/>
                </a:solidFill>
              </a:rPr>
              <a:t>Re-render</a:t>
            </a:r>
            <a:r>
              <a:rPr lang="en-US" sz="1050" dirty="0">
                <a:solidFill>
                  <a:srgbClr val="121211"/>
                </a:solidFill>
              </a:rPr>
              <a:t>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566404" y="2247044"/>
            <a:ext cx="32918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useState Hook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737854" y="2557797"/>
            <a:ext cx="197201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const [data, setData] = useState(init)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737854" y="3022141"/>
            <a:ext cx="2643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data</a:t>
            </a:r>
            <a:endParaRPr lang="en-US" sz="987" dirty="0"/>
          </a:p>
        </p:txBody>
      </p:sp>
      <p:sp>
        <p:nvSpPr>
          <p:cNvPr id="14" name="Text 10"/>
          <p:cNvSpPr/>
          <p:nvPr/>
        </p:nvSpPr>
        <p:spPr>
          <a:xfrm>
            <a:off x="6002173" y="3006068"/>
            <a:ext cx="10755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: 當前的數值狀態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37854" y="3290032"/>
            <a:ext cx="4607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setData</a:t>
            </a:r>
            <a:endParaRPr lang="en-US" sz="987" dirty="0"/>
          </a:p>
        </p:txBody>
      </p:sp>
      <p:sp>
        <p:nvSpPr>
          <p:cNvPr id="16" name="Text 12"/>
          <p:cNvSpPr/>
          <p:nvPr/>
        </p:nvSpPr>
        <p:spPr>
          <a:xfrm>
            <a:off x="6198626" y="3273958"/>
            <a:ext cx="19328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: 用來更新數值的「魔法開關」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737854" y="3557922"/>
            <a:ext cx="2857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規則</a:t>
            </a:r>
            <a:endParaRPr lang="en-US" sz="987" dirty="0"/>
          </a:p>
        </p:txBody>
      </p:sp>
      <p:sp>
        <p:nvSpPr>
          <p:cNvPr id="18" name="Text 14"/>
          <p:cNvSpPr/>
          <p:nvPr/>
        </p:nvSpPr>
        <p:spPr>
          <a:xfrm>
            <a:off x="6023604" y="3541849"/>
            <a:ext cx="22185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: 永遠使用更新函式，嚴禁直接修改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566404" y="3922254"/>
            <a:ext cx="3291818" cy="10287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6"/>
          <p:cNvSpPr/>
          <p:nvPr/>
        </p:nvSpPr>
        <p:spPr>
          <a:xfrm>
            <a:off x="5566404" y="3922254"/>
            <a:ext cx="28575" cy="10287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/>
          <p:nvPr/>
        </p:nvSpPr>
        <p:spPr>
          <a:xfrm>
            <a:off x="5737854" y="4093704"/>
            <a:ext cx="2948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核心原則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5737854" y="4379454"/>
            <a:ext cx="294891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UI 是狀態的函數：</a:t>
            </a:r>
            <a:r>
              <a:rPr lang="en-US" sz="987" b="1" dirty="0">
                <a:solidFill>
                  <a:srgbClr val="484F6F"/>
                </a:solidFill>
              </a:rPr>
              <a:t>UI = f(State)</a:t>
            </a:r>
            <a:r>
              <a:rPr lang="en-US" sz="1050" dirty="0">
                <a:solidFill>
                  <a:srgbClr val="121211"/>
                </a:solidFill>
              </a:rPr>
              <a:t>。我們只需管理資料，React 負責同步畫面。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" y="171450"/>
            <a:ext cx="88011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資料流的藝術：父子組件間的雙向溝通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171450" y="1047955"/>
            <a:ext cx="43148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資料傳遞模式的應用場景分佈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1727309"/>
            <a:ext cx="4314825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450" y="4435487"/>
            <a:ext cx="43148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核心原則：優先使用單向資料流，必要時透過 Callback 進行逆流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4657725" y="990805"/>
            <a:ext cx="4314825" cy="8001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4657725" y="990805"/>
            <a:ext cx="28575" cy="8001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4772025" y="1105105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溝通範式轉移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72025" y="1333705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React 透過單向資料流確保了資料的可預測性，而 Callback Function 則賦予了子組件通知父組件狀態變更的能力。</a:t>
            </a:r>
            <a:endParaRPr lang="en-US" sz="834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327384"/>
            <a:ext cx="10715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07756" y="2298809"/>
            <a:ext cx="8584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父傳子 (Props)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4743450" y="2527409"/>
            <a:ext cx="19431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將資料或設定值由上而下傳遞給子組件</a:t>
            </a:r>
            <a:endParaRPr lang="en-US" sz="72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2327384"/>
            <a:ext cx="107156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8031" y="2298809"/>
            <a:ext cx="10297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子傳父 (Callback)</a:t>
            </a:r>
            <a:endParaRPr lang="en-US" sz="885" dirty="0"/>
          </a:p>
        </p:txBody>
      </p:sp>
      <p:sp>
        <p:nvSpPr>
          <p:cNvPr id="16" name="Text 10"/>
          <p:cNvSpPr/>
          <p:nvPr/>
        </p:nvSpPr>
        <p:spPr>
          <a:xfrm>
            <a:off x="6943725" y="2527409"/>
            <a:ext cx="19431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父傳遞函式，子呼叫並回傳資料</a:t>
            </a:r>
            <a:endParaRPr lang="en-US" sz="72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2970321"/>
            <a:ext cx="107156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07756" y="2941746"/>
            <a:ext cx="5143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狀態提升</a:t>
            </a:r>
            <a:endParaRPr lang="en-US" sz="885" dirty="0"/>
          </a:p>
        </p:txBody>
      </p:sp>
      <p:sp>
        <p:nvSpPr>
          <p:cNvPr id="19" name="Text 12"/>
          <p:cNvSpPr/>
          <p:nvPr/>
        </p:nvSpPr>
        <p:spPr>
          <a:xfrm>
            <a:off x="4743450" y="3170346"/>
            <a:ext cx="19431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將 State 移至共同父組件以共享資料</a:t>
            </a:r>
            <a:endParaRPr lang="en-US" sz="727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3725" y="2970321"/>
            <a:ext cx="178594" cy="14287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79469" y="2941746"/>
            <a:ext cx="6429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跨組件通訊</a:t>
            </a:r>
            <a:endParaRPr lang="en-US" sz="885" dirty="0"/>
          </a:p>
        </p:txBody>
      </p:sp>
      <p:sp>
        <p:nvSpPr>
          <p:cNvPr id="22" name="Text 14"/>
          <p:cNvSpPr/>
          <p:nvPr/>
        </p:nvSpPr>
        <p:spPr>
          <a:xfrm>
            <a:off x="6943725" y="3170346"/>
            <a:ext cx="19431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使用 Context API 處理深層嵌套傳遞</a:t>
            </a:r>
            <a:endParaRPr lang="en-US" sz="727" dirty="0"/>
          </a:p>
        </p:txBody>
      </p:sp>
      <p:sp>
        <p:nvSpPr>
          <p:cNvPr id="23" name="Shape 15"/>
          <p:cNvSpPr/>
          <p:nvPr/>
        </p:nvSpPr>
        <p:spPr>
          <a:xfrm>
            <a:off x="4657725" y="3835412"/>
            <a:ext cx="4314825" cy="80010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16"/>
          <p:cNvSpPr/>
          <p:nvPr/>
        </p:nvSpPr>
        <p:spPr>
          <a:xfrm>
            <a:off x="4657725" y="3835412"/>
            <a:ext cx="28575" cy="8001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17"/>
          <p:cNvSpPr/>
          <p:nvPr/>
        </p:nvSpPr>
        <p:spPr>
          <a:xfrm>
            <a:off x="4772025" y="3949712"/>
            <a:ext cx="40862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開發建議</a:t>
            </a:r>
            <a:endParaRPr lang="en-US" sz="885" dirty="0"/>
          </a:p>
        </p:txBody>
      </p:sp>
      <p:sp>
        <p:nvSpPr>
          <p:cNvPr id="26" name="Text 18"/>
          <p:cNvSpPr/>
          <p:nvPr/>
        </p:nvSpPr>
        <p:spPr>
          <a:xfrm>
            <a:off x="4772025" y="4178312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過度的狀態提升會導致組件過於臃腫，應在「資料共享」與「組件獨立性」之間取得平衡。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實戰演練：Todo List 專案架構與渲染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28600" y="1033667"/>
            <a:ext cx="4257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Todo App 元件結構拆解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70159"/>
            <a:ext cx="4257675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4449775"/>
            <a:ext cx="42576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開發流程：先拆解 UI 結構，再實作資料邏輯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4657725" y="754921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4657725" y="754921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4772025" y="869221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元件化實作流程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72025" y="1097821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在實戰環節中，我們將 Todo App 拆解為多個功能元件。透過元件化開發，能有效隔離邏輯，讓程式碼更易於測試與維護。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743450" y="1855617"/>
            <a:ext cx="11906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陣列渲染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743450" y="2055642"/>
            <a:ext cx="11906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21211"/>
                </a:solidFill>
              </a:rPr>
              <a:t>Map</a:t>
            </a:r>
            <a:endParaRPr lang="en-US" sz="1499" dirty="0"/>
          </a:p>
        </p:txBody>
      </p:sp>
      <p:sp>
        <p:nvSpPr>
          <p:cNvPr id="13" name="Text 9"/>
          <p:cNvSpPr/>
          <p:nvPr/>
        </p:nvSpPr>
        <p:spPr>
          <a:xfrm>
            <a:off x="4743450" y="2312817"/>
            <a:ext cx="11906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動態生成 UI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6191231" y="1855617"/>
            <a:ext cx="1190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唯一標識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6191231" y="2055642"/>
            <a:ext cx="1190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21211"/>
                </a:solidFill>
              </a:rPr>
              <a:t>Key</a:t>
            </a:r>
            <a:endParaRPr lang="en-US" sz="1499" dirty="0"/>
          </a:p>
        </p:txBody>
      </p:sp>
      <p:sp>
        <p:nvSpPr>
          <p:cNvPr id="16" name="Text 12"/>
          <p:cNvSpPr/>
          <p:nvPr/>
        </p:nvSpPr>
        <p:spPr>
          <a:xfrm>
            <a:off x="6191231" y="2312817"/>
            <a:ext cx="11906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優化渲染效能</a:t>
            </a:r>
            <a:endParaRPr lang="en-US" sz="727" dirty="0"/>
          </a:p>
        </p:txBody>
      </p:sp>
      <p:sp>
        <p:nvSpPr>
          <p:cNvPr id="17" name="Text 13"/>
          <p:cNvSpPr/>
          <p:nvPr/>
        </p:nvSpPr>
        <p:spPr>
          <a:xfrm>
            <a:off x="7639041" y="1855617"/>
            <a:ext cx="11906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雙向綁定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7639041" y="2055642"/>
            <a:ext cx="1190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21211"/>
                </a:solidFill>
              </a:rPr>
              <a:t>Binding</a:t>
            </a:r>
            <a:endParaRPr lang="en-US" sz="1499" dirty="0"/>
          </a:p>
        </p:txBody>
      </p:sp>
      <p:sp>
        <p:nvSpPr>
          <p:cNvPr id="19" name="Text 15"/>
          <p:cNvSpPr/>
          <p:nvPr/>
        </p:nvSpPr>
        <p:spPr>
          <a:xfrm>
            <a:off x="7639041" y="2312817"/>
            <a:ext cx="11906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121211"/>
                </a:solidFill>
              </a:rPr>
              <a:t>同步輸入狀態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4657725" y="2720569"/>
            <a:ext cx="4257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實戰核心技術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4829175" y="2961670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陣列渲染：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5472140" y="2961670"/>
            <a:ext cx="2906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使用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5802617" y="2937839"/>
            <a:ext cx="8488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array.map()</a:t>
            </a:r>
            <a:endParaRPr lang="en-US" sz="942" dirty="0"/>
          </a:p>
        </p:txBody>
      </p:sp>
      <p:sp>
        <p:nvSpPr>
          <p:cNvPr id="24" name="Text 20"/>
          <p:cNvSpPr/>
          <p:nvPr/>
        </p:nvSpPr>
        <p:spPr>
          <a:xfrm>
            <a:off x="6611596" y="2961670"/>
            <a:ext cx="20908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遍歷資料陣列，動態生成多個元件。</a:t>
            </a:r>
            <a:endParaRPr lang="en-US" sz="942" dirty="0"/>
          </a:p>
        </p:txBody>
      </p:sp>
      <p:sp>
        <p:nvSpPr>
          <p:cNvPr id="25" name="Text 21"/>
          <p:cNvSpPr/>
          <p:nvPr/>
        </p:nvSpPr>
        <p:spPr>
          <a:xfrm>
            <a:off x="4829175" y="3204558"/>
            <a:ext cx="9020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Key 的重要性：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5731241" y="3204558"/>
            <a:ext cx="1576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渲染列表時必須提供唯一的</a:t>
            </a:r>
            <a:endParaRPr lang="en-US" sz="942" dirty="0"/>
          </a:p>
        </p:txBody>
      </p:sp>
      <p:sp>
        <p:nvSpPr>
          <p:cNvPr id="27" name="Text 23"/>
          <p:cNvSpPr/>
          <p:nvPr/>
        </p:nvSpPr>
        <p:spPr>
          <a:xfrm>
            <a:off x="7191998" y="3196193"/>
            <a:ext cx="23150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key</a:t>
            </a:r>
            <a:endParaRPr lang="en-US" sz="942" dirty="0"/>
          </a:p>
        </p:txBody>
      </p:sp>
      <p:sp>
        <p:nvSpPr>
          <p:cNvPr id="28" name="Text 24"/>
          <p:cNvSpPr/>
          <p:nvPr/>
        </p:nvSpPr>
        <p:spPr>
          <a:xfrm>
            <a:off x="5731241" y="3349658"/>
            <a:ext cx="1840399" cy="184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屬性，幫助 React 識別節點變動。</a:t>
            </a:r>
            <a:endParaRPr lang="en-US" sz="942" dirty="0"/>
          </a:p>
        </p:txBody>
      </p:sp>
      <p:sp>
        <p:nvSpPr>
          <p:cNvPr id="29" name="Text 25"/>
          <p:cNvSpPr/>
          <p:nvPr/>
        </p:nvSpPr>
        <p:spPr>
          <a:xfrm>
            <a:off x="4829175" y="3658186"/>
            <a:ext cx="6429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互動邏輯：</a:t>
            </a:r>
            <a:endParaRPr lang="en-US" sz="885" dirty="0"/>
          </a:p>
        </p:txBody>
      </p:sp>
      <p:sp>
        <p:nvSpPr>
          <p:cNvPr id="30" name="Text 26"/>
          <p:cNvSpPr/>
          <p:nvPr/>
        </p:nvSpPr>
        <p:spPr>
          <a:xfrm>
            <a:off x="5472140" y="3658186"/>
            <a:ext cx="3203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實作輸入框雙向綁定與新增待辦事項的 State 更新邏輯。</a:t>
            </a:r>
            <a:endParaRPr lang="en-US" sz="942" dirty="0"/>
          </a:p>
        </p:txBody>
      </p:sp>
      <p:sp>
        <p:nvSpPr>
          <p:cNvPr id="31" name="Shape 27"/>
          <p:cNvSpPr/>
          <p:nvPr/>
        </p:nvSpPr>
        <p:spPr>
          <a:xfrm>
            <a:off x="4657725" y="4014146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28"/>
          <p:cNvSpPr/>
          <p:nvPr/>
        </p:nvSpPr>
        <p:spPr>
          <a:xfrm>
            <a:off x="4657725" y="4014146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29"/>
          <p:cNvSpPr/>
          <p:nvPr/>
        </p:nvSpPr>
        <p:spPr>
          <a:xfrm>
            <a:off x="4772025" y="4128446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21211"/>
                </a:solidFill>
              </a:rPr>
              <a:t>開發建議</a:t>
            </a:r>
            <a:endParaRPr lang="en-US" sz="885" dirty="0"/>
          </a:p>
        </p:txBody>
      </p:sp>
      <p:sp>
        <p:nvSpPr>
          <p:cNvPr id="34" name="Text 30"/>
          <p:cNvSpPr/>
          <p:nvPr/>
        </p:nvSpPr>
        <p:spPr>
          <a:xfrm>
            <a:off x="4772025" y="4357046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建議先從靜態畫面開始，確認元件層級正確後，再逐步加入 State 與互動邏輯。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8686800" cy="2828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8" b="1" dirty="0">
                <a:solidFill>
                  <a:srgbClr val="484F6F"/>
                </a:solidFill>
              </a:rPr>
              <a:t>進階應用：useEffect 與 API 非同步處理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228600" y="1033667"/>
            <a:ext cx="4257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21211"/>
                </a:solidFill>
              </a:rPr>
              <a:t>useEffect 執行時機與生命週期</a:t>
            </a:r>
            <a:endParaRPr lang="en-US" sz="119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670159"/>
            <a:ext cx="3929063" cy="2428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4449775"/>
            <a:ext cx="42576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i="1" dirty="0">
                <a:solidFill>
                  <a:srgbClr val="121211"/>
                </a:solidFill>
              </a:rPr>
              <a:t>精準控制副作用的執行時機，避免不必要的效能損耗</a:t>
            </a:r>
            <a:endParaRPr lang="en-US" sz="727" dirty="0"/>
          </a:p>
        </p:txBody>
      </p:sp>
      <p:sp>
        <p:nvSpPr>
          <p:cNvPr id="7" name="Shape 3"/>
          <p:cNvSpPr/>
          <p:nvPr/>
        </p:nvSpPr>
        <p:spPr>
          <a:xfrm>
            <a:off x="4657725" y="880663"/>
            <a:ext cx="4257675" cy="8572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4"/>
          <p:cNvSpPr/>
          <p:nvPr/>
        </p:nvSpPr>
        <p:spPr>
          <a:xfrm>
            <a:off x="4657725" y="880663"/>
            <a:ext cx="28575" cy="8572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5"/>
          <p:cNvSpPr/>
          <p:nvPr/>
        </p:nvSpPr>
        <p:spPr>
          <a:xfrm>
            <a:off x="4772025" y="994963"/>
            <a:ext cx="40290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副作用 (Side Effects)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72025" y="1223563"/>
            <a:ext cx="40290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21211"/>
                </a:solidFill>
              </a:rPr>
              <a:t>在 React 中，資料抓取、訂閱或手動修改 DOM 等行為稱為副作用。useEffect 用於處理這些邏輯，確保元件函數保持純淨 (Pure)。</a:t>
            </a:r>
            <a:endParaRPr lang="en-US" sz="942" dirty="0"/>
          </a:p>
        </p:txBody>
      </p:sp>
      <p:sp>
        <p:nvSpPr>
          <p:cNvPr id="11" name="Shape 7"/>
          <p:cNvSpPr/>
          <p:nvPr/>
        </p:nvSpPr>
        <p:spPr>
          <a:xfrm>
            <a:off x="4657725" y="1992799"/>
            <a:ext cx="4257675" cy="757238"/>
          </a:xfrm>
          <a:prstGeom prst="rect">
            <a:avLst/>
          </a:prstGeom>
          <a:solidFill>
            <a:srgbClr val="484F6F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8"/>
          <p:cNvSpPr/>
          <p:nvPr/>
        </p:nvSpPr>
        <p:spPr>
          <a:xfrm>
            <a:off x="4657725" y="1992799"/>
            <a:ext cx="28575" cy="757238"/>
          </a:xfrm>
          <a:prstGeom prst="rect">
            <a:avLst/>
          </a:prstGeom>
          <a:solidFill>
            <a:srgbClr val="484F6F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2107099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43475" y="2078524"/>
            <a:ext cx="857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依賴陣列控制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743450" y="2307124"/>
            <a:ext cx="40862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透過傳入空陣列 [] 確保 API 請求僅在元件掛載時執行一次；若傳入變數，則在該變數改變時重新執行。</a:t>
            </a:r>
            <a:endParaRPr lang="en-US" sz="834" dirty="0"/>
          </a:p>
        </p:txBody>
      </p:sp>
      <p:sp>
        <p:nvSpPr>
          <p:cNvPr id="16" name="Shape 11"/>
          <p:cNvSpPr/>
          <p:nvPr/>
        </p:nvSpPr>
        <p:spPr>
          <a:xfrm>
            <a:off x="4657725" y="3004924"/>
            <a:ext cx="4257675" cy="742950"/>
          </a:xfrm>
          <a:prstGeom prst="rect">
            <a:avLst/>
          </a:prstGeom>
          <a:solidFill>
            <a:srgbClr val="939CBD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2"/>
          <p:cNvSpPr/>
          <p:nvPr/>
        </p:nvSpPr>
        <p:spPr>
          <a:xfrm>
            <a:off x="4657725" y="3004924"/>
            <a:ext cx="28575" cy="742950"/>
          </a:xfrm>
          <a:prstGeom prst="rect">
            <a:avLst/>
          </a:prstGeom>
          <a:solidFill>
            <a:srgbClr val="939CB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3119224"/>
            <a:ext cx="178594" cy="1428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79194" y="3090649"/>
            <a:ext cx="845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API 串接實務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4743450" y="3319249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在 useEffect 中發起非同步請求，並將回傳資料更新至 State。務必處理載入中 (Loading) 與錯誤 (Error) 狀態。</a:t>
            </a:r>
            <a:endParaRPr lang="en-US" sz="834" dirty="0"/>
          </a:p>
        </p:txBody>
      </p:sp>
      <p:sp>
        <p:nvSpPr>
          <p:cNvPr id="21" name="Shape 15"/>
          <p:cNvSpPr/>
          <p:nvPr/>
        </p:nvSpPr>
        <p:spPr>
          <a:xfrm>
            <a:off x="4657725" y="4002760"/>
            <a:ext cx="4257675" cy="742950"/>
          </a:xfrm>
          <a:prstGeom prst="rect">
            <a:avLst/>
          </a:prstGeom>
          <a:solidFill>
            <a:srgbClr val="D6AE7E">
              <a:alpha val="1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6"/>
          <p:cNvSpPr/>
          <p:nvPr/>
        </p:nvSpPr>
        <p:spPr>
          <a:xfrm>
            <a:off x="4657725" y="4002760"/>
            <a:ext cx="28575" cy="74295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4117060"/>
            <a:ext cx="178594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79194" y="4088485"/>
            <a:ext cx="12728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清除機制 (Cleanup)</a:t>
            </a:r>
            <a:endParaRPr lang="en-US" sz="987" dirty="0"/>
          </a:p>
        </p:txBody>
      </p:sp>
      <p:sp>
        <p:nvSpPr>
          <p:cNvPr id="25" name="Text 18"/>
          <p:cNvSpPr/>
          <p:nvPr/>
        </p:nvSpPr>
        <p:spPr>
          <a:xfrm>
            <a:off x="4743450" y="4317085"/>
            <a:ext cx="4086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21211"/>
                </a:solidFill>
              </a:rPr>
              <a:t>若副作用包含訂閱或計時器，需在 useEffect 的回傳函式中進行清除，防止記憶體洩漏 (Memory Leak)。</a:t>
            </a:r>
            <a:endParaRPr lang="en-US" sz="8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35719" cy="5143500"/>
          </a:xfrm>
          <a:prstGeom prst="rect">
            <a:avLst/>
          </a:prstGeom>
          <a:solidFill>
            <a:srgbClr val="D6AE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/>
          <p:cNvSpPr/>
          <p:nvPr/>
        </p:nvSpPr>
        <p:spPr>
          <a:xfrm>
            <a:off x="457200" y="564356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36" b="1" dirty="0">
                <a:solidFill>
                  <a:srgbClr val="484F6F"/>
                </a:solidFill>
              </a:rPr>
              <a:t>總結與下一步：
</a:t>
            </a:r>
            <a:r>
              <a:rPr lang="en-US" sz="1808" b="1" dirty="0">
                <a:solidFill>
                  <a:srgbClr val="484F6F"/>
                </a:solidFill>
              </a:rPr>
              <a:t>開啟你的 React 開發之路</a:t>
            </a:r>
            <a:endParaRPr lang="en-US" sz="2436" dirty="0"/>
          </a:p>
        </p:txBody>
      </p:sp>
      <p:sp>
        <p:nvSpPr>
          <p:cNvPr id="7" name="Text 3"/>
          <p:cNvSpPr/>
          <p:nvPr/>
        </p:nvSpPr>
        <p:spPr>
          <a:xfrm>
            <a:off x="457200" y="1650206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6AE7E"/>
                </a:solidFill>
              </a:rPr>
              <a:t>核心回顧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628650" y="2010966"/>
            <a:ext cx="7143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元件化思維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1343025" y="1994892"/>
            <a:ext cx="1618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：拆分 UI，重複利用積木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28650" y="2278856"/>
            <a:ext cx="6661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Props 傳遞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1294805" y="2262783"/>
            <a:ext cx="1714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：父傳子，建立單向資料流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28650" y="2546747"/>
            <a:ext cx="61793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State 驅動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1246584" y="2530673"/>
            <a:ext cx="161878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：管理資料，自動更新 UI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28650" y="2814638"/>
            <a:ext cx="5786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21211"/>
                </a:solidFill>
              </a:rPr>
              <a:t>useEffect</a:t>
            </a:r>
            <a:endParaRPr lang="en-US" sz="987" dirty="0"/>
          </a:p>
        </p:txBody>
      </p:sp>
      <p:sp>
        <p:nvSpPr>
          <p:cNvPr id="15" name="Text 11"/>
          <p:cNvSpPr/>
          <p:nvPr/>
        </p:nvSpPr>
        <p:spPr>
          <a:xfrm>
            <a:off x="1207294" y="2798564"/>
            <a:ext cx="172923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121211"/>
                </a:solidFill>
              </a:rPr>
              <a:t>：處理外部資料與 API 串接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3236119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6AE7E"/>
                </a:solidFill>
              </a:rPr>
              <a:t>下一步行動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457200" y="3579019"/>
            <a:ext cx="457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i="1" dirty="0">
                <a:solidFill>
                  <a:srgbClr val="121211"/>
                </a:solidFill>
              </a:rPr>
              <a:t>嘗試將今日的 Todo List 部署到 Vercel，與全世界分享你的第一個 React 作品！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57200" y="4321969"/>
            <a:ext cx="4572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121211"/>
                </a:solidFill>
              </a:rPr>
              <a:t>謝謝大家！Q&amp;A 時間</a:t>
            </a:r>
            <a:endParaRPr lang="en-US" sz="1499" dirty="0"/>
          </a:p>
        </p:txBody>
      </p:sp>
      <p:sp>
        <p:nvSpPr>
          <p:cNvPr id="19" name="Text 15"/>
          <p:cNvSpPr/>
          <p:nvPr/>
        </p:nvSpPr>
        <p:spPr>
          <a:xfrm>
            <a:off x="7526973" y="4714875"/>
            <a:ext cx="133127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kern="0" spc="1" dirty="0">
                <a:solidFill>
                  <a:srgbClr val="121211"/>
                </a:solidFill>
              </a:rPr>
              <a:t>React Workshop 2026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763</Words>
  <Application>Microsoft Macintosh PowerPoint</Application>
  <PresentationFormat>如螢幕大小 (16:9)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漢堡 劉</cp:lastModifiedBy>
  <cp:revision>2</cp:revision>
  <dcterms:created xsi:type="dcterms:W3CDTF">2026-01-02T08:06:16Z</dcterms:created>
  <dcterms:modified xsi:type="dcterms:W3CDTF">2026-01-02T08:11:56Z</dcterms:modified>
</cp:coreProperties>
</file>